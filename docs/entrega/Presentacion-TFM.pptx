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98b76399b749cc" /><Relationship Type="http://schemas.openxmlformats.org/officeDocument/2006/relationships/extended-properties" Target="/docProps/app.xml" Id="R7e8bd493e2b04d81" /><Relationship Type="http://schemas.openxmlformats.org/officeDocument/2006/relationships/officeDocument" Target="/ppt/presentation.xml" Id="Re2c64cdf898f46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f78aa4f67a43b6"/>
  </p:sldMasterIdLst>
  <p:notesMasterIdLst>
    <p:notesMasterId xmlns:r="http://schemas.openxmlformats.org/officeDocument/2006/relationships" r:id="R8a8b688c2d1b4f07"/>
  </p:notesMasterIdLst>
  <p:sldIdLst>
    <p:sldId xmlns:r="http://schemas.openxmlformats.org/officeDocument/2006/relationships" id="256" r:id="Rdfdc594b13ca4a2e"/>
    <p:sldId xmlns:r="http://schemas.openxmlformats.org/officeDocument/2006/relationships" id="257" r:id="R928d200e3dda4a9d"/>
    <p:sldId xmlns:r="http://schemas.openxmlformats.org/officeDocument/2006/relationships" id="258" r:id="R2043187bf6e04349"/>
    <p:sldId xmlns:r="http://schemas.openxmlformats.org/officeDocument/2006/relationships" id="259" r:id="Re11d5214ce6947d5"/>
    <p:sldId xmlns:r="http://schemas.openxmlformats.org/officeDocument/2006/relationships" id="260" r:id="R52b8b99581b94099"/>
    <p:sldId xmlns:r="http://schemas.openxmlformats.org/officeDocument/2006/relationships" id="261" r:id="R8c92bbec81e94299"/>
    <p:sldId xmlns:r="http://schemas.openxmlformats.org/officeDocument/2006/relationships" id="262" r:id="R80b3d6aef65b42b0"/>
    <p:sldId xmlns:r="http://schemas.openxmlformats.org/officeDocument/2006/relationships" id="263" r:id="Rfe8c5612ecae460c"/>
    <p:sldId xmlns:r="http://schemas.openxmlformats.org/officeDocument/2006/relationships" id="264" r:id="R1089433746804731"/>
    <p:sldId xmlns:r="http://schemas.openxmlformats.org/officeDocument/2006/relationships" id="265" r:id="R75ab134c859e41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5478618ea74648" /><Relationship Type="http://schemas.openxmlformats.org/officeDocument/2006/relationships/slideMaster" Target="/ppt/slideMasters/slideMaster1.xml" Id="Rdbf78aa4f67a43b6" /><Relationship Type="http://schemas.openxmlformats.org/officeDocument/2006/relationships/notesMaster" Target="/ppt/notesMasters/notesMaster1.xml" Id="R8a8b688c2d1b4f07" /><Relationship Type="http://schemas.openxmlformats.org/officeDocument/2006/relationships/presProps" Target="/ppt/presProps.xml" Id="R802add6daf2242f5" /><Relationship Type="http://schemas.openxmlformats.org/officeDocument/2006/relationships/tableStyles" Target="/ppt/tableStyles.xml" Id="R9632b7fa35414dc2" /><Relationship Type="http://schemas.openxmlformats.org/officeDocument/2006/relationships/slide" Target="/ppt/slides/slide1.xml" Id="Rdfdc594b13ca4a2e" /><Relationship Type="http://schemas.openxmlformats.org/officeDocument/2006/relationships/slide" Target="/ppt/slides/slide2.xml" Id="R928d200e3dda4a9d" /><Relationship Type="http://schemas.openxmlformats.org/officeDocument/2006/relationships/slide" Target="/ppt/slides/slide3.xml" Id="R2043187bf6e04349" /><Relationship Type="http://schemas.openxmlformats.org/officeDocument/2006/relationships/slide" Target="/ppt/slides/slide4.xml" Id="Re11d5214ce6947d5" /><Relationship Type="http://schemas.openxmlformats.org/officeDocument/2006/relationships/slide" Target="/ppt/slides/slide5.xml" Id="R52b8b99581b94099" /><Relationship Type="http://schemas.openxmlformats.org/officeDocument/2006/relationships/slide" Target="/ppt/slides/slide6.xml" Id="R8c92bbec81e94299" /><Relationship Type="http://schemas.openxmlformats.org/officeDocument/2006/relationships/slide" Target="/ppt/slides/slide7.xml" Id="R80b3d6aef65b42b0" /><Relationship Type="http://schemas.openxmlformats.org/officeDocument/2006/relationships/slide" Target="/ppt/slides/slide8.xml" Id="Rfe8c5612ecae460c" /><Relationship Type="http://schemas.openxmlformats.org/officeDocument/2006/relationships/slide" Target="/ppt/slides/slide9.xml" Id="R1089433746804731" /><Relationship Type="http://schemas.openxmlformats.org/officeDocument/2006/relationships/slide" Target="/ppt/slides/slide10.xml" Id="R75ab134c859e41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0c0780ef1c42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ccf691230f4673" /><Relationship Type="http://schemas.openxmlformats.org/officeDocument/2006/relationships/notesMaster" Target="/ppt/notesMasters/notesMaster1.xml" Id="Rd766429ad1fe48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72a56d97064431" /><Relationship Type="http://schemas.openxmlformats.org/officeDocument/2006/relationships/notesMaster" Target="/ppt/notesMasters/notesMaster1.xml" Id="Ra9be7ab1c76f4b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636a9499d44360" /><Relationship Type="http://schemas.openxmlformats.org/officeDocument/2006/relationships/notesMaster" Target="/ppt/notesMasters/notesMaster1.xml" Id="Rc16dd15b388c4a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b06677c325428f" /><Relationship Type="http://schemas.openxmlformats.org/officeDocument/2006/relationships/notesMaster" Target="/ppt/notesMasters/notesMaster1.xml" Id="R83df8d31fcfc49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388497509348eb" /><Relationship Type="http://schemas.openxmlformats.org/officeDocument/2006/relationships/notesMaster" Target="/ppt/notesMasters/notesMaster1.xml" Id="R59a4ff37913248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bbcb138cea408b" /><Relationship Type="http://schemas.openxmlformats.org/officeDocument/2006/relationships/notesMaster" Target="/ppt/notesMasters/notesMaster1.xml" Id="R47b6af9d9d3946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254d5dfaa449d0" /><Relationship Type="http://schemas.openxmlformats.org/officeDocument/2006/relationships/notesMaster" Target="/ppt/notesMasters/notesMaster1.xml" Id="R8477e25e7edf49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a126040f334134" /><Relationship Type="http://schemas.openxmlformats.org/officeDocument/2006/relationships/notesMaster" Target="/ppt/notesMasters/notesMaster1.xml" Id="R3e77a98b0dae47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3455bac4e84559" /><Relationship Type="http://schemas.openxmlformats.org/officeDocument/2006/relationships/notesMaster" Target="/ppt/notesMasters/notesMaster1.xml" Id="R918b76e2cded4d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309158899045ee" /><Relationship Type="http://schemas.openxmlformats.org/officeDocument/2006/relationships/notesMaster" Target="/ppt/notesMasters/notesMaster1.xml" Id="R9d95288036da47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proyecto individual y su motivación profesional. Toda la implementación y las pruebas utilizan dispositivos y operaciones ficticios. No procesa pagos.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fabricante tiene 2 dígitos, el modelo 2 y la serie 11. PostgreSQL asocia cada dispositivo a un comercio de 9 dígitos. Alcance acordado en Doc/Especificacion-TFM-Pasarela-IoT.md.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Seguir el recorrido completo de una petición. Gateway recibe y delimita tramas. Registro autentica y accede a la base. El gateway no recibe las credenciales de base ni las claves de los dispositivos. Fuentes: compose.yaml y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por qué TCP exige tratar fragmentación y agrupación de mensajes. Fechas UTC con yyMMddHHmm. HMAC-SHA256 con clave por dispositivo. El cliente verifica certificado por huella y nombre. Fuente: src/Iot.Protocol y especificación.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pérdida de respuesta no equivale a ausencia de commit. La idempotencia evita duplicados entre conexiones y réplicas. Se comprueba además la identidad y el estado activo al repetir una solicitud. Fuentes: RegistryStore.cs y tests/Iot.Tests.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docs/evidence/acceptance-500-10min.json. 500 dispositivos con 120 operaciones y pausa de 5 segundos después de cada respuesta. Ensayo de lazo cerrado, no tasa constante de llegada. Cliente y servidores comparten Docker Desktop, 8 CPU virtuales y unos 7,6 GiB. No son cifras de producción.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docs/validacion-docker.md y docs/validacion-fallos.md. Fallos de réplica: 10000 operaciones por escenario, cero fallos finales. Base de datos: 1 operación y reenvío idéntico. Sobrecarga: 32 dispositivos, límite reducido a 1 por gateway, 30 respuestas 013 y 2 respuestas 009. No implica que PostgreSQL tenga alta disponibilidad.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Comparación de una ejecución por configuración, orden fijo, mismo host: 1+1 obtuvo 758,67 ops/s y 2+2 obtuvo 596,10. No afirmar escalado lineal ni atribuir una causa sin medirla. Fuente: docs/validacion-docker.md. Alta disponibilidad integral y journal durable quedan fuera del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docs/ai-development.md. Separar requisitos humanos y asistencia de IA. No afirmar trabajo manual que no se haya realizado ni ocultar resultados desfavorables. La aplicación no necesita un LLM en ejecución.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Seguir docs/entrega/guion-demostracion.md. El evaluador puede ejecutar la demo local. La publicación en GitHub y la ejecución de Actions se documentan con su estado real en el índice de entrega. No inventar URLs ni indicar un vídeo grabado si aún no existe.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7622f79224f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349e349ffd48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dc3428e8645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7c757a1d54a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358ab8e2a4e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f8bba19e14b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E9D1D7-D4BE-4272-8D2B-F72352982A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119606-2362-42EC-8D48-54C70BEE6B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9C93671-C554-4FB6-B021-B9BE4E980D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BF6599-AF70-4BCD-B0B3-74295A5F14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D526A0-CFE5-4C15-B327-09BC3E3A4D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E9E21F-A81A-4A79-9076-D8E1AEA3C5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1BF965-F422-4B81-B3C7-33974C5E19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D3683A-BDD3-41CB-9664-1755E00401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F1D9CE-1ACF-4972-9787-360EBD5A42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6D7B0D-1E1D-4415-8BB6-A25CBBA51D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274285923c4cab" /><Relationship Type="http://schemas.openxmlformats.org/officeDocument/2006/relationships/slideLayout" Target="/ppt/slideLayouts/slideLayout1.xml" Id="Rf6328ae4f8634487" /><Relationship Type="http://schemas.openxmlformats.org/officeDocument/2006/relationships/slideLayout" Target="/ppt/slideLayouts/slideLayout2.xml" Id="R12ef698f574a4cc2" /><Relationship Type="http://schemas.openxmlformats.org/officeDocument/2006/relationships/slideLayout" Target="/ppt/slideLayouts/slideLayout3.xml" Id="Rb4fbfd5dfb814061" /><Relationship Type="http://schemas.openxmlformats.org/officeDocument/2006/relationships/slideLayout" Target="/ppt/slideLayouts/slideLayout4.xml" Id="Rbf34f2721f104f1a" /><Relationship Type="http://schemas.openxmlformats.org/officeDocument/2006/relationships/slideLayout" Target="/ppt/slideLayouts/slideLayout5.xml" Id="Rfa881b8853d741a6" /><Relationship Type="http://schemas.openxmlformats.org/officeDocument/2006/relationships/slideLayout" Target="/ppt/slideLayouts/slideLayout6.xml" Id="Rdb258e595a4048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328ae4f8634487"/>
    <p:sldLayoutId xmlns:r="http://schemas.openxmlformats.org/officeDocument/2006/relationships" id="2147483650" r:id="R12ef698f574a4cc2"/>
    <p:sldLayoutId xmlns:r="http://schemas.openxmlformats.org/officeDocument/2006/relationships" id="2147483651" r:id="Rb4fbfd5dfb814061"/>
    <p:sldLayoutId xmlns:r="http://schemas.openxmlformats.org/officeDocument/2006/relationships" id="2147483652" r:id="Rbf34f2721f104f1a"/>
    <p:sldLayoutId xmlns:r="http://schemas.openxmlformats.org/officeDocument/2006/relationships" id="2147483653" r:id="Rfa881b8853d741a6"/>
    <p:sldLayoutId xmlns:r="http://schemas.openxmlformats.org/officeDocument/2006/relationships" id="2147483654" r:id="Rdb258e595a4048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1910763f6f4302" /><Relationship Type="http://schemas.openxmlformats.org/officeDocument/2006/relationships/notesSlide" Target="/ppt/notesSlides/notesSlide1.xml" Id="R7ff2ff762ecb40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fc71c1ce1440ed" /><Relationship Type="http://schemas.openxmlformats.org/officeDocument/2006/relationships/notesSlide" Target="/ppt/notesSlides/notesSlide2.xml" Id="R348e6a3928a040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c1c10fc7b640a8" /><Relationship Type="http://schemas.openxmlformats.org/officeDocument/2006/relationships/notesSlide" Target="/ppt/notesSlides/notesSlide3.xml" Id="R25e0902596b946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3bef0c634b4570" /><Relationship Type="http://schemas.openxmlformats.org/officeDocument/2006/relationships/notesSlide" Target="/ppt/notesSlides/notesSlide4.xml" Id="Ra79904b8242741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4a4fbf02474c7c" /><Relationship Type="http://schemas.openxmlformats.org/officeDocument/2006/relationships/notesSlide" Target="/ppt/notesSlides/notesSlide5.xml" Id="R0eff984b27054c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75a03654d74d22" /><Relationship Type="http://schemas.openxmlformats.org/officeDocument/2006/relationships/notesSlide" Target="/ppt/notesSlides/notesSlide6.xml" Id="R6d62918f2d0f4e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72281bce394482" /><Relationship Type="http://schemas.openxmlformats.org/officeDocument/2006/relationships/notesSlide" Target="/ppt/notesSlides/notesSlide7.xml" Id="R53d501ff32e24b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336c66142242d2" /><Relationship Type="http://schemas.openxmlformats.org/officeDocument/2006/relationships/notesSlide" Target="/ppt/notesSlides/notesSlide8.xml" Id="Rb396d138776047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19c134706e49dd" /><Relationship Type="http://schemas.openxmlformats.org/officeDocument/2006/relationships/notesSlide" Target="/ppt/notesSlides/notesSlide9.xml" Id="Rd4fbc4457d7445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65b1fc4144616" /><Relationship Type="http://schemas.openxmlformats.org/officeDocument/2006/relationships/notesSlide" Target="/ppt/notesSlides/notesSlide10.xml" Id="R76803f264b3e4f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D127B-6BDB-4FD7-A3CF-1E455931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D6B3"/>
                </a:solidFill>
                <a:latin typeface="Arial"/>
                <a:ea typeface="Arial"/>
                <a:cs typeface="Arial"/>
              </a:rPr>
              <a:t>TFM BIGSCHOOL  /  DESARROLLO CON 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0E7AC-3E9B-4C7E-9A8D-F1EEA9CA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Pasarela IoT TCP escalable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84FE2-8925-4F1F-A10B-E3F61194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Conexiones persistentes, operaciones verificables</a:t>
            </a:r>
          </a:p>
          <a:p xmlns:a="http://schemas.openxmlformats.org/drawingml/2006/main">
            <a:pPr>
              <a:defRPr sz="25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y recuperación ante fallos de servicio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E536F-AFB3-418A-A903-4DDFB65B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Máster en Desarrollo con IA E.1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AC973-2325-4E12-867C-61BB3D72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Pasarela IoT TCP · Datos ficticios · Octubre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F3E8C-3983-42D7-8C99-12291785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D6B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08147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15631-EE83-47A3-A98A-2D753720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D6B3"/>
                </a:solidFill>
                <a:latin typeface="Arial"/>
                <a:ea typeface="Arial"/>
                <a:cs typeface="Arial"/>
              </a:rPr>
              <a:t>TFM BIGSCHOOL  /  DESARROLLO CON 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1649F-5114-42DD-8926-F3CF749C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Problema y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56B42-FD27-4D4F-8A0C-4D2000B9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Cientos de dispositivos mantienen una conexión</a:t>
            </a:r>
          </a:p>
          <a:p xmlns:a="http://schemas.openxmlformats.org/drawingml/2006/main">
            <a:pPr>
              <a:defRPr sz="25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y necesitan una respuesta consistente.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411F0-C86D-4C57-AC78-136CA041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El MVP inicializa dispositivos, ejecuta sumas exactas</a:t>
            </a:r>
          </a:p>
          <a:p xmlns:a="http://schemas.openxmlformats.org/drawingml/2006/main">
            <a:pPr>
              <a:defRPr sz="225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y consulta sus totales acumulados.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05781-EC01-4F0F-AD90-1BE5495D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Pasarela IoT TCP · Datos ficticios · Octubre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8DCB3-6C0D-48B3-802A-7FAFEAEC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D6B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071660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CA950-84E2-4475-81F0-C8A847AB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D6B3"/>
                </a:solidFill>
                <a:latin typeface="Arial"/>
                <a:ea typeface="Arial"/>
                <a:cs typeface="Arial"/>
              </a:rPr>
              <a:t>TFM BIGSCHOOL  /  DESARROLLO CON 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59C36-823A-4FA9-9B48-82E68CDA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Arquitectura y despliegue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46E4A-D192-43B2-8FAF-BADD37FA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Simulador   /   HAProxy   /   Gateway TCP y TLS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18424-81C8-45B3-8A4C-909FAD91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API de registro y operaciones   /   PostgreSQL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A061D-72E5-4229-A4C1-7338CF58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Docker Compose permite replicar gateway y registro.</a:t>
            </a:r>
          </a:p>
          <a:p xmlns:a="http://schemas.openxmlformats.org/drawingml/2006/main">
            <a:pPr>
              <a:defRPr sz="21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El balanceador distribuye las nuevas conexiones.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12A89-3942-4A59-B310-67D05461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Pasarela IoT TCP · Datos ficticios · Octubre de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8C5CC-A79D-453B-82C0-92337383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D6B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06961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0B53D-5318-4647-B4AC-DA1BCB83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D6B3"/>
                </a:solidFill>
                <a:latin typeface="Arial"/>
                <a:ea typeface="Arial"/>
                <a:cs typeface="Arial"/>
              </a:rPr>
              <a:t>TFM BIGSCHOOL  /  DESARROLLO CON 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70B6D-379B-4A28-A450-8E6DD1E2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Protocolo y autenticación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B4866-C4F6-42ED-9FD7-32191726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001  Inicialización</a:t>
            </a:r>
          </a:p>
          <a:p xmlns:a="http://schemas.openxmlformats.org/drawingml/2006/main">
            <a:pPr>
              <a:defRPr sz="24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002  Suma con enteros de escala 100</a:t>
            </a:r>
          </a:p>
          <a:p xmlns:a="http://schemas.openxmlformats.org/drawingml/2006/main">
            <a:pPr>
              <a:defRPr sz="24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003  Consulta de totales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66D93-92AB-4F33-9D63-FEA68466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ASCII, campos delimitados, LF y máximo de 4096 bytes.</a:t>
            </a:r>
          </a:p>
          <a:p xmlns:a="http://schemas.openxmlformats.org/drawingml/2006/main">
            <a:pPr>
              <a:defRPr sz="202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TLS protege el canal. HMAC autentica cada trama.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A8C3B-E66A-4B5D-93B2-3FC7BD00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Pasarela IoT TCP · Datos ficticios · Octubre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9AC1E-7739-4308-B966-5D634B61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D6B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140547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A4334-B654-4B70-AC16-0184757A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D6B3"/>
                </a:solidFill>
                <a:latin typeface="Arial"/>
                <a:ea typeface="Arial"/>
                <a:cs typeface="Arial"/>
              </a:rPr>
              <a:t>TFM BIGSCHOOL  /  DESARROLLO CON 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8BCE8-FA53-46FF-97B2-AC0E9404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Una operación, un único efecto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27CD2-1F10-4FD4-A6CF-F42E3C54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Cada petición tiene un identificador de 128 bits.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11E7C-2D52-438F-9E5F-87C2FF02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Una transacción confirma operación, totales y auditoría.</a:t>
            </a:r>
          </a:p>
          <a:p xmlns:a="http://schemas.openxmlformats.org/drawingml/2006/main">
            <a:pPr>
              <a:defRPr sz="22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El servidor responde después del commit.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28F27-3091-4DE1-9C62-B062FC86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Repetir la misma petición devuelve la respuesta guardada.</a:t>
            </a:r>
          </a:p>
          <a:p xmlns:a="http://schemas.openxmlformats.org/drawingml/2006/main">
            <a:pPr>
              <a:defRPr sz="195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Cambiar el contenido con el mismo ID devuelve 012.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CF542-FB9F-4242-A611-E97EF241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Pasarela IoT TCP · Datos ficticios · Octubre de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43799-257A-4BC3-B029-4EE2EC60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D6B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0306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960EA-2167-4FFE-BF58-3B7973E7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D6B3"/>
                </a:solidFill>
                <a:latin typeface="Arial"/>
                <a:ea typeface="Arial"/>
                <a:cs typeface="Arial"/>
              </a:rPr>
              <a:t>TFM BIGSCHOOL  /  DESARROLLO CON 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0DA7D-98A0-41BF-B59F-DAB28C98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500 dispositivos durante diez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E7659-E1CD-49D6-AA20-8ED6EC75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8250" b="1">
                <a:solidFill>
                  <a:srgbClr val="39D6B3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D175A-7613-4DF9-B872-5995C2AE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operaciones confirmadas, sin fallos ni reintentos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4ED18-7ABA-4793-81C3-44293386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p95 de la suma: 47,68 ms   ·   Duración: 605,59 s</a:t>
            </a:r>
          </a:p>
          <a:p xmlns:a="http://schemas.openxmlformats.org/drawingml/2006/main">
            <a:pPr>
              <a:defRPr sz="202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Totales de cada dispositivo verificados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D2CFC-4234-4340-BB18-3BB20665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Pasarela IoT TCP · Datos ficticios · Octubre de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243D3-5688-4BD0-873B-8AC6B553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D6B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82260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BF0F1-754E-47EF-9477-A5C38681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D6B3"/>
                </a:solidFill>
                <a:latin typeface="Arial"/>
                <a:ea typeface="Arial"/>
                <a:cs typeface="Arial"/>
              </a:rPr>
              <a:t>TFM BIGSCHOOL  /  DESARROLLO CON 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71D3F-6CF0-449A-9657-156CA8FF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Pruebas y recuperación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F690F-CA4B-4412-90A8-386FAE9B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29 pruebas automatizadas correctas</a:t>
            </a:r>
          </a:p>
          <a:p xmlns:a="http://schemas.openxmlformats.org/drawingml/2006/main">
            <a: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Protocolo, PostgreSQL y TCP con TLS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66B98-4A9B-48B4-BA10-29B7B736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Caída de gateway y registro: recuperación sin duplicados.</a:t>
            </a:r>
          </a:p>
          <a:p xmlns:a="http://schemas.openxmlformats.org/drawingml/2006/main">
            <a:pPr>
              <a:defRPr sz="21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PostgreSQL detenido: respuesta 009 y recuperación.</a:t>
            </a:r>
          </a:p>
          <a:p xmlns:a="http://schemas.openxmlformats.org/drawingml/2006/main">
            <a:pPr>
              <a:defRPr sz="21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Sobrecarga controlada: rechazo 013 y totales correctos.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2ECBC-379B-4331-9904-567790CE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Pasarela IoT TCP · Datos ficticios · Octubre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E7470-0B68-4B75-996C-C0881763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D6B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8632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CBE3F-A874-4C24-8B7F-F82148F9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D6B3"/>
                </a:solidFill>
                <a:latin typeface="Arial"/>
                <a:ea typeface="Arial"/>
                <a:cs typeface="Arial"/>
              </a:rPr>
              <a:t>TFM BIGSCHOOL  /  DESARROLLO CON 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61BC9-3F2E-4C8F-8AAD-F05DF2CC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Límites comprobados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D33BA-828F-4348-9408-2D3F63D4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Duplicar réplicas no mejoró el rendimiento</a:t>
            </a:r>
          </a:p>
          <a:p xmlns:a="http://schemas.openxmlformats.org/drawingml/2006/main">
            <a:pPr>
              <a:defRPr sz="25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en la comparación exploratoria realizada.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4CCE8-1BF3-4448-A079-DFABCD7E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572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PostgreSQL, HAProxy y el host son puntos únicos de fallo.</a:t>
            </a:r>
          </a:p>
          <a:p xmlns:a="http://schemas.openxmlformats.org/drawingml/2006/main">
            <a:pPr>
              <a:defRPr sz="21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El perfil de 1000 dispositivos superó 1 s en p95.</a:t>
            </a:r>
          </a:p>
          <a:p xmlns:a="http://schemas.openxmlformats.org/drawingml/2006/main">
            <a:pPr>
              <a:defRPr sz="21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La auditoría puede quedar incompleta si la base cae.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A98B2-7DFF-47B6-9D3B-E73F8E8C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Pasarela IoT TCP · Datos ficticios · Octubre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EA0C0-F894-4701-B651-9E438048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D6B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333865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1FB01-8420-4290-A62A-CA2F1C4F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D6B3"/>
                </a:solidFill>
                <a:latin typeface="Arial"/>
                <a:ea typeface="Arial"/>
                <a:cs typeface="Arial"/>
              </a:rPr>
              <a:t>TFM BIGSCHOOL  /  DESARROLLO CON 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E2321-1006-45FA-83C7-6FB31940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Desarrollo asistido por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B9E34-1C3C-4788-BBB2-56E5324E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La IA ayudó con requisitos, implementación,</a:t>
            </a:r>
          </a:p>
          <a:p xmlns:a="http://schemas.openxmlformats.org/drawingml/2006/main">
            <a:pPr>
              <a:defRPr sz="25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documentación y preparación de pruebas.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6908B-0B51-4F27-B05C-E1A88616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572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Las decisiones se contrastan con el código y la ejecución.</a:t>
            </a:r>
          </a:p>
          <a:p xmlns:a="http://schemas.openxmlformats.org/drawingml/2006/main">
            <a:pPr>
              <a:defRPr sz="21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Los informes conservan resultados medidos y limitaciones.</a:t>
            </a:r>
          </a:p>
          <a:p xmlns:a="http://schemas.openxmlformats.org/drawingml/2006/main">
            <a:pPr>
              <a:defRPr sz="21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El autor debe comprender y defender la solución.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882F9-395F-4B97-AD70-C4B71220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Pasarela IoT TCP · Datos ficticios · Octubre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E9F27-8B06-4BE0-99EE-82F18B97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D6B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05708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B08F8-B6B5-4ED9-8607-D606299F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D6B3"/>
                </a:solidFill>
                <a:latin typeface="Arial"/>
                <a:ea typeface="Arial"/>
                <a:cs typeface="Arial"/>
              </a:rPr>
              <a:t>TFM BIGSCHOOL  /  DESARROLLO CON 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33B0E-8D14-4A0D-B021-C4DCBFD6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Demostración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1E455-CA4D-4595-90AA-A4B9E394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057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Arranque con secretos nuevos</a:t>
            </a:r>
          </a:p>
          <a:p xmlns:a="http://schemas.openxmlformats.org/drawingml/2006/main">
            <a:pPr>
              <a:defRPr sz="24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Simulación de dispositivos y comprobación de totales</a:t>
            </a:r>
          </a:p>
          <a:p xmlns:a="http://schemas.openxmlformats.org/drawingml/2006/main">
            <a:pPr>
              <a:defRPr sz="24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Réplicas y recuperación ante una interrupción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B9156-E2E4-40AB-8C8E-7E34BB65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Código, comandos y evidencias acompañan la entrega.</a:t>
            </a:r>
          </a:p>
          <a:p xmlns:a="http://schemas.openxmlformats.org/drawingml/2006/main">
            <a:pPr>
              <a:defRPr sz="202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Ejecución local con Docker, sin pagos ni datos reales.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53FEC-26ED-4E4C-8F05-5424BC9C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Pasarela IoT TCP · Datos ficticios · Octubre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E524A-34B4-4EF8-8194-E3E6C4B8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9D6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D6B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7254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2026-10-15T15:14:58.8950000Z</dcterms:created>
  <dcterms:modified xsi:type="dcterms:W3CDTF">2026-10-15T15:14:58.8960000Z</dcterms:modified>
</coreProperties>
</file>